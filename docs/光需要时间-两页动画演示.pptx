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0ED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编号01"/>
          <p:cNvSpPr/>
          <p:nvPr/>
        </p:nvSpPr>
        <p:spPr>
          <a:xfrm rot="-240000">
            <a:off x="457200" y="384048"/>
            <a:ext cx="1097280" cy="384048"/>
          </a:xfrm>
          <a:prstGeom prst="rect">
            <a:avLst/>
          </a:prstGeom>
          <a:solidFill>
            <a:srgbClr val="16161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0EDE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— 01 —</a:t>
            </a:r>
            <a:endParaRPr lang="en-US" sz="1400" dirty="0"/>
          </a:p>
        </p:txBody>
      </p:sp>
      <p:sp>
        <p:nvSpPr>
          <p:cNvPr id="3" name="小标签"/>
          <p:cNvSpPr/>
          <p:nvPr/>
        </p:nvSpPr>
        <p:spPr>
          <a:xfrm>
            <a:off x="457200" y="896112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5B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太阳光走完 1 个天文单位，要多久</a:t>
            </a:r>
            <a:endParaRPr lang="en-US" sz="1600" dirty="0"/>
          </a:p>
        </p:txBody>
      </p:sp>
      <p:sp>
        <p:nvSpPr>
          <p:cNvPr id="4" name="黑块"/>
          <p:cNvSpPr/>
          <p:nvPr/>
        </p:nvSpPr>
        <p:spPr>
          <a:xfrm>
            <a:off x="457200" y="1554480"/>
            <a:ext cx="11274552" cy="2606040"/>
          </a:xfrm>
          <a:prstGeom prst="rect">
            <a:avLst/>
          </a:prstGeom>
          <a:solidFill>
            <a:srgbClr val="161616"/>
          </a:solidFill>
          <a:ln/>
        </p:spPr>
      </p:sp>
      <p:sp>
        <p:nvSpPr>
          <p:cNvPr id="5" name="大数字"/>
          <p:cNvSpPr/>
          <p:nvPr/>
        </p:nvSpPr>
        <p:spPr>
          <a:xfrm>
            <a:off x="960120" y="1810512"/>
            <a:ext cx="54864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0" b="1" dirty="0">
                <a:solidFill>
                  <a:srgbClr val="F0EDE6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499 秒</a:t>
            </a:r>
            <a:endParaRPr lang="en-US" sz="10000" dirty="0"/>
          </a:p>
        </p:txBody>
      </p:sp>
      <p:sp>
        <p:nvSpPr>
          <p:cNvPr id="6" name="块内小注"/>
          <p:cNvSpPr/>
          <p:nvPr/>
        </p:nvSpPr>
        <p:spPr>
          <a:xfrm>
            <a:off x="960120" y="3639312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8B2A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≈ 8 分 19 秒</a:t>
            </a:r>
            <a:endParaRPr lang="en-US" sz="1800" dirty="0"/>
          </a:p>
        </p:txBody>
      </p:sp>
      <p:sp>
        <p:nvSpPr>
          <p:cNvPr id="7" name="主张"/>
          <p:cNvSpPr/>
          <p:nvPr/>
        </p:nvSpPr>
        <p:spPr>
          <a:xfrm>
            <a:off x="6903720" y="1965960"/>
            <a:ext cx="437083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3600" b="1" dirty="0">
                <a:solidFill>
                  <a:srgbClr val="F0EDE6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你看到的太阳，</a:t>
            </a:r>
            <a:endParaRPr lang="en-US" sz="3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3600" b="1" dirty="0">
                <a:solidFill>
                  <a:srgbClr val="F0EDE6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是 8 分钟前的它</a:t>
            </a:r>
            <a:endParaRPr lang="en-US" sz="3600" dirty="0"/>
          </a:p>
        </p:txBody>
      </p:sp>
      <p:sp>
        <p:nvSpPr>
          <p:cNvPr id="8" name="斜带"/>
          <p:cNvSpPr/>
          <p:nvPr/>
        </p:nvSpPr>
        <p:spPr>
          <a:xfrm rot="-240000">
            <a:off x="0" y="4937760"/>
            <a:ext cx="12188952" cy="822960"/>
          </a:xfrm>
          <a:prstGeom prst="rect">
            <a:avLst/>
          </a:prstGeom>
          <a:solidFill>
            <a:srgbClr val="C33A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spc="600" kern="0" dirty="0">
                <a:solidFill>
                  <a:srgbClr val="F0EDE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LIGHT TAKES TIME</a:t>
            </a:r>
            <a:endParaRPr lang="en-US" sz="26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wipe dir="l"/>
      </p:transition>
    </mc:Choice>
    <mc:Fallback>
      <p:transition spd="slow">
        <p:wipe dir="l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0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9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9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ED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编号02"/>
          <p:cNvSpPr/>
          <p:nvPr/>
        </p:nvSpPr>
        <p:spPr>
          <a:xfrm rot="-240000">
            <a:off x="457200" y="384048"/>
            <a:ext cx="1097280" cy="384048"/>
          </a:xfrm>
          <a:prstGeom prst="rect">
            <a:avLst/>
          </a:prstGeom>
          <a:solidFill>
            <a:srgbClr val="16161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0EDE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— 02 —</a:t>
            </a:r>
            <a:endParaRPr lang="en-US" sz="1400" dirty="0"/>
          </a:p>
        </p:txBody>
      </p:sp>
      <p:sp>
        <p:nvSpPr>
          <p:cNvPr id="3" name="页标题"/>
          <p:cNvSpPr/>
          <p:nvPr/>
        </p:nvSpPr>
        <p:spPr>
          <a:xfrm>
            <a:off x="457200" y="896112"/>
            <a:ext cx="112745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61616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距离越远，你看到的就是越早的过去</a:t>
            </a:r>
            <a:endParaRPr lang="en-US" sz="3800" dirty="0"/>
          </a:p>
        </p:txBody>
      </p:sp>
      <p:sp>
        <p:nvSpPr>
          <p:cNvPr id="4" name="副标题"/>
          <p:cNvSpPr/>
          <p:nvPr/>
        </p:nvSpPr>
        <p:spPr>
          <a:xfrm>
            <a:off x="457200" y="1645920"/>
            <a:ext cx="9144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F5B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同一时刻发出的光，到达眼睛的延迟不一样长</a:t>
            </a:r>
            <a:endParaRPr lang="en-US" sz="1600" dirty="0"/>
          </a:p>
        </p:txBody>
      </p:sp>
      <p:sp>
        <p:nvSpPr>
          <p:cNvPr id="5" name="黑块"/>
          <p:cNvSpPr/>
          <p:nvPr/>
        </p:nvSpPr>
        <p:spPr>
          <a:xfrm>
            <a:off x="457200" y="3767328"/>
            <a:ext cx="11137392" cy="91440"/>
          </a:xfrm>
          <a:prstGeom prst="rect">
            <a:avLst/>
          </a:prstGeom>
          <a:solidFill>
            <a:srgbClr val="161616"/>
          </a:solidFill>
          <a:ln/>
        </p:spPr>
      </p:sp>
      <p:sp>
        <p:nvSpPr>
          <p:cNvPr id="6" name="节点一"/>
          <p:cNvSpPr/>
          <p:nvPr/>
        </p:nvSpPr>
        <p:spPr>
          <a:xfrm>
            <a:off x="822960" y="2212848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5F5B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月球</a:t>
            </a:r>
            <a:endParaRPr lang="en-US" sz="16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3200" b="1" dirty="0">
                <a:solidFill>
                  <a:srgbClr val="161616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1.3 秒</a:t>
            </a:r>
            <a:endParaRPr lang="en-US" sz="1600" dirty="0"/>
          </a:p>
        </p:txBody>
      </p:sp>
      <p:sp>
        <p:nvSpPr>
          <p:cNvPr id="7" name="节点标记一"/>
          <p:cNvSpPr/>
          <p:nvPr/>
        </p:nvSpPr>
        <p:spPr>
          <a:xfrm>
            <a:off x="1929384" y="3685032"/>
            <a:ext cx="256032" cy="256032"/>
          </a:xfrm>
          <a:prstGeom prst="rect">
            <a:avLst/>
          </a:prstGeom>
          <a:solidFill>
            <a:srgbClr val="F0EDE6"/>
          </a:solidFill>
          <a:ln/>
        </p:spPr>
      </p:sp>
      <p:sp>
        <p:nvSpPr>
          <p:cNvPr id="8" name="节点二"/>
          <p:cNvSpPr/>
          <p:nvPr/>
        </p:nvSpPr>
        <p:spPr>
          <a:xfrm>
            <a:off x="3429000" y="2212848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5F5B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太阳</a:t>
            </a:r>
            <a:endParaRPr lang="en-US" sz="16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3200" b="1" dirty="0">
                <a:solidFill>
                  <a:srgbClr val="161616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8 分 19 秒</a:t>
            </a:r>
            <a:endParaRPr lang="en-US" sz="1600" dirty="0"/>
          </a:p>
        </p:txBody>
      </p:sp>
      <p:sp>
        <p:nvSpPr>
          <p:cNvPr id="9" name="节点标记二"/>
          <p:cNvSpPr/>
          <p:nvPr/>
        </p:nvSpPr>
        <p:spPr>
          <a:xfrm>
            <a:off x="4535424" y="3685032"/>
            <a:ext cx="256032" cy="256032"/>
          </a:xfrm>
          <a:prstGeom prst="rect">
            <a:avLst/>
          </a:prstGeom>
          <a:solidFill>
            <a:srgbClr val="F0EDE6"/>
          </a:solidFill>
          <a:ln/>
        </p:spPr>
      </p:sp>
      <p:sp>
        <p:nvSpPr>
          <p:cNvPr id="10" name="节点三"/>
          <p:cNvSpPr/>
          <p:nvPr/>
        </p:nvSpPr>
        <p:spPr>
          <a:xfrm>
            <a:off x="6035040" y="2212848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5F5B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比邻星</a:t>
            </a:r>
            <a:endParaRPr lang="en-US" sz="16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3200" b="1" dirty="0">
                <a:solidFill>
                  <a:srgbClr val="161616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4.25 年</a:t>
            </a:r>
            <a:endParaRPr lang="en-US" sz="1600" dirty="0"/>
          </a:p>
        </p:txBody>
      </p:sp>
      <p:sp>
        <p:nvSpPr>
          <p:cNvPr id="11" name="节点标记三"/>
          <p:cNvSpPr/>
          <p:nvPr/>
        </p:nvSpPr>
        <p:spPr>
          <a:xfrm>
            <a:off x="7141464" y="3685032"/>
            <a:ext cx="256032" cy="256032"/>
          </a:xfrm>
          <a:prstGeom prst="rect">
            <a:avLst/>
          </a:prstGeom>
          <a:solidFill>
            <a:srgbClr val="F0EDE6"/>
          </a:solidFill>
          <a:ln/>
        </p:spPr>
      </p:sp>
      <p:sp>
        <p:nvSpPr>
          <p:cNvPr id="12" name="节点四"/>
          <p:cNvSpPr/>
          <p:nvPr/>
        </p:nvSpPr>
        <p:spPr>
          <a:xfrm>
            <a:off x="8641080" y="2212848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5F5B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银河系中心</a:t>
            </a:r>
            <a:endParaRPr lang="en-US" sz="16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3200" b="1" dirty="0">
                <a:solidFill>
                  <a:srgbClr val="161616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约 2.6 万年</a:t>
            </a:r>
            <a:endParaRPr lang="en-US" sz="1600" dirty="0"/>
          </a:p>
        </p:txBody>
      </p:sp>
      <p:sp>
        <p:nvSpPr>
          <p:cNvPr id="13" name="节点标记四"/>
          <p:cNvSpPr/>
          <p:nvPr/>
        </p:nvSpPr>
        <p:spPr>
          <a:xfrm>
            <a:off x="9747504" y="3685032"/>
            <a:ext cx="256032" cy="256032"/>
          </a:xfrm>
          <a:prstGeom prst="rect">
            <a:avLst/>
          </a:prstGeom>
          <a:solidFill>
            <a:srgbClr val="F0EDE6"/>
          </a:solidFill>
          <a:ln/>
        </p:spPr>
      </p:sp>
      <p:sp>
        <p:nvSpPr>
          <p:cNvPr id="14" name="轴端"/>
          <p:cNvSpPr/>
          <p:nvPr/>
        </p:nvSpPr>
        <p:spPr>
          <a:xfrm rot="2700000">
            <a:off x="11503152" y="3721608"/>
            <a:ext cx="182880" cy="182880"/>
          </a:xfrm>
          <a:prstGeom prst="rect">
            <a:avLst/>
          </a:prstGeom>
          <a:solidFill>
            <a:srgbClr val="161616"/>
          </a:solidFill>
          <a:ln/>
        </p:spPr>
      </p:sp>
      <p:sp>
        <p:nvSpPr>
          <p:cNvPr id="15" name="斜带"/>
          <p:cNvSpPr/>
          <p:nvPr/>
        </p:nvSpPr>
        <p:spPr>
          <a:xfrm rot="-240000">
            <a:off x="5486400" y="4800600"/>
            <a:ext cx="6245352" cy="960120"/>
          </a:xfrm>
          <a:prstGeom prst="rect">
            <a:avLst/>
          </a:prstGeom>
          <a:solidFill>
            <a:srgbClr val="C33A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0EDE6"/>
                </a:solidFill>
                <a:latin typeface="黑体" pitchFamily="34" charset="0"/>
                <a:ea typeface="黑体" pitchFamily="34" charset="-122"/>
                <a:cs typeface="黑体" pitchFamily="34" charset="-120"/>
              </a:rPr>
              <a:t>望远镜就是时间机器</a:t>
            </a:r>
            <a:endParaRPr lang="en-US" sz="4000" dirty="0"/>
          </a:p>
        </p:txBody>
      </p:sp>
      <p:sp>
        <p:nvSpPr>
          <p:cNvPr id="16" name="来源行"/>
          <p:cNvSpPr/>
          <p:nvPr/>
        </p:nvSpPr>
        <p:spPr>
          <a:xfrm>
            <a:off x="457200" y="4800600"/>
            <a:ext cx="4663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F5B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来源：IAU 2012 天文单位定义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F5B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 au = 149 597 870 700 m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F5B5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比邻星 4.2465 光年 · 银心距离为估算</a:t>
            </a:r>
            <a:endParaRPr lang="en-US" sz="15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0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after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7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42" presetClass="entr" presetSubtype="0" fill="hold" nodeType="after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1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nodeType="afterEffect">
                                  <p:stCondLst>
                                    <p:cond delay="1650"/>
                                  </p:stCondLst>
                                  <p:childTnLst>
                                    <p:set>
                                      <p:cBhvr>
                                        <p:cTn id="15" dur="5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1" dur="500" autoRev="1" fill="hold"/>
                                        <p:tgtEl>
                                          <p:spTgt spid="15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光需要时间 · 两页动画演示</dc:title>
  <dc:subject>PptxGenJS Presentation</dc:subject>
  <dc:creator>PptxGenJS</dc:creator>
  <cp:lastModifiedBy>PptxGenJS</cp:lastModifiedBy>
  <cp:revision>1</cp:revision>
  <dcterms:created xsi:type="dcterms:W3CDTF">2026-09-13T05:20:33Z</dcterms:created>
  <dcterms:modified xsi:type="dcterms:W3CDTF">2026-09-13T05:20:33Z</dcterms:modified>
</cp:coreProperties>
</file>