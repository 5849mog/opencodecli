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72768"/>
            <a:ext cx="4023360" cy="225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32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化学满分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56048" y="1645920"/>
            <a:ext cx="10058" cy="2194560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49240" y="1554480"/>
            <a:ext cx="63093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溶解度不丢分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385816" y="2615184"/>
            <a:ext cx="6309360" cy="324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100" kern="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上海中考化学 · 溶解度专题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85816" y="3163824"/>
            <a:ext cx="6035040" cy="784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B4441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这一块的分，丢在两件事上：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B4441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没先判状态，没看出题目在反着考。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444398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4608576"/>
            <a:ext cx="11274552" cy="57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沪教版（上海）九年级上册　第 3 章 走进溶液世界 · 3.2 溶液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 2022—2026 上海中考及各区一模二模真题编写 · 共 26 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742432"/>
            <a:ext cx="11274552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题目出自公开试卷页，非官方标准答案；正文均标注出处。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 · 起手｜考情定位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上海卷年年考它，载体年年换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来源：市教委 2025／2026 年中招文件；2022—2026 年上海中考化学卷公开页。分值占比为教研估算，非官方统计。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498080" cy="2121408"/>
        </p:xfrm>
        <a:graphic>
          <a:graphicData uri="http://schemas.openxmlformats.org/drawingml/2006/table">
            <a:tbl>
              <a:tblPr/>
              <a:tblGrid>
                <a:gridCol w="1051560"/>
                <a:gridCol w="3246120"/>
                <a:gridCol w="2240280"/>
                <a:gridCol w="9601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年份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信息载体（每年轮换）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相关题（原卷题号）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估分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溶解度表：Li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NaCl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5、16、17、39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8~13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溶解度曲线：KNO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/ NaCl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1、3、8、9、10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8~12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溶解度曲线：尿素 / 硝酸钾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3 题等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4~8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11312" y="1280160"/>
            <a:ext cx="3520440" cy="212140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394192" y="1408176"/>
            <a:ext cx="3154680" cy="547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15%~25%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412480" y="1975104"/>
            <a:ext cx="315468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估占化学卷 50 分中的比重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0" y="2267712"/>
            <a:ext cx="310896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412480" y="2377440"/>
            <a:ext cx="3154680" cy="853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载体「表」与「曲线」交替出现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集中在选择后半段＋简答大题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是拉分题，不是送分题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7124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7200" y="3840480"/>
            <a:ext cx="11274552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三年三条可直接用的结论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57200" y="4224528"/>
            <a:ext cx="3587496" cy="184708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57200" y="4224528"/>
            <a:ext cx="50292" cy="1847088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94944" y="4334256"/>
            <a:ext cx="313029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表、曲线两条腿走路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4944" y="4700016"/>
            <a:ext cx="3130296" cy="57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考表，2025、2026 考曲线。两种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载体都要练，不能只刷曲线题。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00728" y="4224528"/>
            <a:ext cx="3587496" cy="184708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300728" y="4224528"/>
            <a:ext cx="50292" cy="1847088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38472" y="4334256"/>
            <a:ext cx="313029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不定项是主战场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38472" y="4700016"/>
            <a:ext cx="3130296" cy="57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溶解度曲线已成不定项选择题的固定压轴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位，2024、2025 连续两年命中。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144256" y="4224528"/>
            <a:ext cx="3587496" cy="184708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144256" y="4224528"/>
            <a:ext cx="50292" cy="1847088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382000" y="4334256"/>
            <a:ext cx="313029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大题里藏着陷阱问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82000" y="4700016"/>
            <a:ext cx="3130296" cy="57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溶液大题常配一问开放反思题，说目的、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挑缺点，区分度最大。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 · 起手｜定义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溶解度是四要素，缺一个就是错项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来源：2017 年上海市初中化学课程终结性评价指南 · 主题四 溶液 · 4.2.1 固体物质溶解度的概念（学习水平 A）。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1274552" cy="93268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298448"/>
            <a:ext cx="365760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定义原文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10725912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在一定温度下，某物质在 100 g 溶剂里达到饱和状态时所溶解的克数。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2654046" cy="248716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" y="2414016"/>
            <a:ext cx="225171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" y="2779776"/>
            <a:ext cx="2251710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一定温度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" y="3182112"/>
            <a:ext cx="225171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3291840"/>
            <a:ext cx="2251710" cy="59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没有温度的数值，</a:t>
            </a:r>
            <a:endParaRPr lang="en-US" sz="14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没有意义。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3968496"/>
            <a:ext cx="2251710" cy="560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试卷上写「NaCl 的溶解度是 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 g」，条件不全。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0702" y="2304288"/>
            <a:ext cx="2654046" cy="248716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31870" y="2414016"/>
            <a:ext cx="225171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31870" y="2779776"/>
            <a:ext cx="2251710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100 g 溶剂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31870" y="3182112"/>
            <a:ext cx="225171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31870" y="3291840"/>
            <a:ext cx="2251710" cy="29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100 g 水，不是溶液。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31870" y="3968496"/>
            <a:ext cx="2251710" cy="280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分母记错，后面的计算全崩。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04204" y="2304288"/>
            <a:ext cx="2654046" cy="248716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5372" y="2414016"/>
            <a:ext cx="225171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5372" y="2779776"/>
            <a:ext cx="2251710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达到饱和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5372" y="3182112"/>
            <a:ext cx="225171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5372" y="3291840"/>
            <a:ext cx="2251710" cy="29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必须是不能再溶了。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5372" y="3968496"/>
            <a:ext cx="2251710" cy="560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没溶满就测，测到的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是投入量。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77706" y="2304288"/>
            <a:ext cx="2654046" cy="248716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278874" y="2414016"/>
            <a:ext cx="225171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278874" y="2779776"/>
            <a:ext cx="2251710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单位是克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78874" y="3182112"/>
            <a:ext cx="225171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278874" y="3291840"/>
            <a:ext cx="2251710" cy="29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克，不是百分数。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78874" y="3968496"/>
            <a:ext cx="2251710" cy="560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溶解度是克，质量分数才</a:t>
            </a:r>
            <a:endParaRPr lang="en-US" sz="1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是百分数。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974336"/>
            <a:ext cx="11274552" cy="118872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57200" y="4974336"/>
            <a:ext cx="50292" cy="1188720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31520" y="5065776"/>
            <a:ext cx="10725912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41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最容易错的一句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1520" y="5376672"/>
            <a:ext cx="10725912" cy="666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错：「20℃ 时 NaCl 饱和溶液中含 36 g NaCl，所以溶解度为 36 g。」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对：必须是 100 g 水（溶剂）里溶解 36 g——100 g 溶液里的溶质质量要先换算。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 · 起手｜状态转化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从不满到满有三条路，从满到不满有两条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来源：沪教版（上海）九年级上册 3.2 溶液（饱和溶液、不饱和溶液）。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25296"/>
            <a:ext cx="5509260" cy="274320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1225296"/>
            <a:ext cx="50292" cy="2743200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1335024"/>
            <a:ext cx="496062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不饱和　→　饱和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" y="1810512"/>
            <a:ext cx="4924044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· 加溶质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2066544"/>
            <a:ext cx="468630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溶质变多，直到溶不动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4924044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· 蒸发溶剂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2724912"/>
            <a:ext cx="468630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水变少，溶同样多就满了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3127248"/>
            <a:ext cx="4924044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· 降低温度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7552" y="3383280"/>
            <a:ext cx="468630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多数固体降温后溶解度变小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22492" y="1225296"/>
            <a:ext cx="5509260" cy="274320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22492" y="1225296"/>
            <a:ext cx="50292" cy="2743200"/>
          </a:xfrm>
          <a:prstGeom prst="rect">
            <a:avLst/>
          </a:prstGeom>
          <a:solidFill>
            <a:srgbClr val="3E7A57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96812" y="1335024"/>
            <a:ext cx="496062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饱和　→　不饱和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15100" y="1810512"/>
            <a:ext cx="4924044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· 加溶剂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52844" y="2066544"/>
            <a:ext cx="468630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水变多，原来的溶质就不够满了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5100" y="2468880"/>
            <a:ext cx="4924044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· 升高温度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52844" y="2724912"/>
            <a:ext cx="468630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多数固体升温后溶解度变大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5100" y="3108960"/>
            <a:ext cx="4942332" cy="59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444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特例：Ca(OH)</a:t>
            </a:r>
            <a:r>
              <a:rPr lang="en-US" sz="1200" baseline="-40000" dirty="0">
                <a:solidFill>
                  <a:srgbClr val="B444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350" dirty="0">
                <a:solidFill>
                  <a:srgbClr val="B444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这类反常型物质，升温溶解度反而减小，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444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两条路的方向要反着记。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" y="41696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279392"/>
            <a:ext cx="11274552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怎么判断它已经饱和了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5509260" cy="146304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94944" y="4754880"/>
            <a:ext cx="505206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判据一：看得到固体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" y="5102352"/>
            <a:ext cx="5052060" cy="311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容器里还有没溶完的固体，那上面的清液一定是饱和溶液。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22492" y="4663440"/>
            <a:ext cx="5509260" cy="146304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60236" y="4754880"/>
            <a:ext cx="505206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判据二：加不进去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0236" y="5102352"/>
            <a:ext cx="5052060" cy="62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没有固体时，取少量溶液再加一点同种溶质；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不再溶解，就是饱和。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 · 起手｜易错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满和不浓是两件事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年上海市松江区中考一模 · 化学 · 第 17 题（不定项）。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11274552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饱和＝还能不能再溶　｜　浓稀＝溶质有多少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5509260" cy="215798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627632"/>
            <a:ext cx="50292" cy="2157984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1737360"/>
            <a:ext cx="4960620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饱和的，可以很稀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4960620" cy="96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Ca(OH)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在 20℃ 的溶解度只有约 0.17 g / 100 g 水。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它饱和了，可是整杯溶液稀得很。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反过来，很浓的溶液也可能还没饱和。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22492" y="1627632"/>
            <a:ext cx="5509260" cy="215798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22492" y="1627632"/>
            <a:ext cx="50292" cy="2157984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6812" y="1737360"/>
            <a:ext cx="4960620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2025 松江一模第 17 题 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6812" y="2139696"/>
            <a:ext cx="4960620" cy="1283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「可以配制 36% 的氯化钠溶液」——这个说法是错的。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20℃ NaCl 溶解度为 36 g / 100 g 水，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饱和溶液的质量分数：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 ÷ (100 + 36) × 100% ≈ 26.5%，达不到 36%。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68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4078224"/>
            <a:ext cx="11274552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这个错是怎么来的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462272"/>
            <a:ext cx="11274552" cy="710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「每 100 g 水溶解 36 g」被读成了「每 100 g 溶液含 36 g」。前者的分母是 100，后者的分母是 136。</a:t>
            </a: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同一个 36，一个是克数，一个是百分数，两者根本不是一回事。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57200" y="5358384"/>
            <a:ext cx="11274552" cy="78638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5486400"/>
            <a:ext cx="10725912" cy="23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记法：溶解度是「克」，质量分数是「百分数」；饱和溶液的质量分数有上限 S ÷ (100+S)。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 · 曲线与表格地图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曲线是状态地图，点在线上就是饱和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来源：KNO</a:t>
            </a:r>
            <a:r>
              <a:rPr lang="en-US" sz="1200" baseline="-400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、NaCl 溶解度数据取自 2025 年上海中考第 37 题与 2025 年浦东新区一模第 39 题同源数值。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5257800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曲线上的每个位置，都在说三件事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1700784"/>
            <a:ext cx="5257800" cy="1042416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700784"/>
            <a:ext cx="50292" cy="1042416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1810512"/>
            <a:ext cx="4782312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41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曲线上方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2157984"/>
            <a:ext cx="4782312" cy="29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饱和，并且杯底还有没溶完的固体。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5257800" cy="1042416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889504"/>
            <a:ext cx="50292" cy="1042416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3232" y="2999232"/>
            <a:ext cx="4782312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曲线上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3346704"/>
            <a:ext cx="4782312" cy="29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恰好饱和。这个点的纵坐标就是该温度下的溶解度。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078224"/>
            <a:ext cx="5257800" cy="1042416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078224"/>
            <a:ext cx="50292" cy="1042416"/>
          </a:xfrm>
          <a:prstGeom prst="rect">
            <a:avLst/>
          </a:prstGeom>
          <a:solidFill>
            <a:srgbClr val="3E7A57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" y="4187952"/>
            <a:ext cx="4782312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57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曲线下方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" y="4535424"/>
            <a:ext cx="4782312" cy="29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不饱和，还能继续溶。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5321808"/>
            <a:ext cx="5257800" cy="866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看图先看两个轴：横轴是温度，纵轴是溶解度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（单位 g / 100 g 水）。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单位不看，读数全错。</a:t>
            </a:r>
            <a:endParaRPr lang="en-US" sz="1300" dirty="0"/>
          </a:p>
        </p:txBody>
      </p:sp>
      <p:pic>
        <p:nvPicPr>
          <p:cNvPr id="23" name="figure:figA1" descr="chart_kno3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243584"/>
            <a:ext cx="5760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 · 曲线与表格地图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交点只说溶解度相等，不说浓度相等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年上海市奉贤区中考一模 · 化学 · 第 17 题（不定项）。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5440680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2025 奉贤一模第 17 题 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609344"/>
            <a:ext cx="5440680" cy="312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「t₁℃ 时，甲、乙两物质溶液的溶质质量分数相等」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5440680" cy="23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4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错。题目只说「溶液」，没说是饱和溶液。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544068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779776"/>
            <a:ext cx="5440680" cy="666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交点只说明一件事：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该温度下两物质的溶解度相等。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493008"/>
            <a:ext cx="5440680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要从「溶解度相等」推到「质量分数相等」，必须再补一个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前提：两者都恰好饱和。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440680" cy="157276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0292" cy="1572768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" y="4224528"/>
            <a:ext cx="496519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补全后的正确说法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" y="4572000"/>
            <a:ext cx="4965192" cy="30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t₁℃，甲、乙各自的饱和溶液，溶质质量分数相等。</a:t>
            </a:r>
            <a:endParaRPr lang="en-US" sz="1350" dirty="0"/>
          </a:p>
        </p:txBody>
      </p:sp>
      <p:pic>
        <p:nvPicPr>
          <p:cNvPr id="19" name="figure:figA2" descr="chart_kno3_nacl_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243584"/>
            <a:ext cx="55778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 · 曲线与表格地图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升温后浓度不变，只是从满变成不满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年上海市浦东新区中考一模 · 化学 · 第 39 题②（参考答案：＝）。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5623560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2025 浦东一模第 39 题②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5623560" cy="66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t₁℃ 时，分别将 KNO</a:t>
            </a:r>
            <a:r>
              <a:rPr lang="en-US" sz="1200" baseline="-400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r>
              <a:rPr lang="en-US" sz="145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、NaCl 的饱和溶液升温至 t</a:t>
            </a:r>
            <a:r>
              <a:rPr lang="en-US" sz="1200" baseline="-400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r>
              <a:rPr lang="en-US" sz="145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℃（不考虑</a:t>
            </a:r>
            <a:endParaRPr lang="en-US" sz="14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溶剂蒸发），所得溶液的溶质质量分数：KNO</a:t>
            </a:r>
            <a:r>
              <a:rPr lang="en-US" sz="1200" baseline="-400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r>
              <a:rPr lang="en-US" sz="145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＿＿ NaCl。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562356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答案：＝（等于）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562356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328416"/>
            <a:ext cx="5623560" cy="666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升温时只动了温度一个量：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溶质质量不变、溶剂质量不变。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041648"/>
            <a:ext cx="5623560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质量分数 ＝ 溶质 ÷ 溶液，两者都没变，所以质量分数不变——溶液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只是从饱和变成了不饱和。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5623560" cy="129844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4754880"/>
            <a:ext cx="50292" cy="1298448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" y="4864608"/>
            <a:ext cx="5148072" cy="30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陷阱：把「溶解度变大」当成「浓度变大」。</a:t>
            </a:r>
            <a:endParaRPr lang="en-US" sz="1350" dirty="0"/>
          </a:p>
        </p:txBody>
      </p:sp>
      <p:pic>
        <p:nvPicPr>
          <p:cNvPr id="18" name="figure:figW1" descr="chart_nacl_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280160"/>
            <a:ext cx="53949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 · 曲线与表格地图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表格要先看方向，有的物质越热越难溶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来源：2024 年上海中考第 39 题(2)①（Li</a:t>
            </a:r>
            <a:r>
              <a:rPr lang="en-US" sz="1200" baseline="-400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</a:t>
            </a:r>
            <a:r>
              <a:rPr lang="en-US" sz="1200" baseline="-400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）；2025 年上海市闵行区中考二模第 20 题（SrCl</a:t>
            </a:r>
            <a:r>
              <a:rPr lang="en-US" sz="1200" baseline="-400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5532120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常规型与反常型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64208"/>
          <a:ext cx="5532120" cy="2377440"/>
        </p:xfrm>
        <a:graphic>
          <a:graphicData uri="http://schemas.openxmlformats.org/drawingml/2006/table">
            <a:tbl>
              <a:tblPr/>
              <a:tblGrid>
                <a:gridCol w="1417320"/>
                <a:gridCol w="301752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物质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0℃ → 高温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1.54 → 0.85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减小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SrCl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0.19 → 0.09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减小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Ca(OH)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随温度升高减小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减小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NaCl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35.7 → 38.4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缓增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224528"/>
            <a:ext cx="5532120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单位：g / 100 g 水。前三种越热越难溶——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这就是上海卷最爱考的反常型。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4974336"/>
            <a:ext cx="5532120" cy="109728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57200" y="4974336"/>
            <a:ext cx="50292" cy="1097280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3232" y="5065776"/>
            <a:ext cx="505663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2024 第 39 题(2)① 的正确答案就是「减小」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3232" y="5431536"/>
            <a:ext cx="5056632" cy="23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读表第一件事不是找数，是看增减方向。</a:t>
            </a:r>
            <a:endParaRPr lang="en-US" sz="1350" dirty="0"/>
          </a:p>
        </p:txBody>
      </p:sp>
      <p:pic>
        <p:nvPicPr>
          <p:cNvPr id="16" name="figure:figB1" descr="chart_li2co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61872"/>
            <a:ext cx="54864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 · 曲线与表格地图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曲线陡缓决定方法，提纯谁决定谁析出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来源：2022 年上海中考第 20 题（K</a:t>
            </a:r>
            <a:r>
              <a:rPr lang="en-US" sz="1200" baseline="-400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</a:t>
            </a:r>
            <a:r>
              <a:rPr lang="en-US" sz="1200" baseline="-400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提纯）；2024 年上海中考第 39 题（Li</a:t>
            </a:r>
            <a:r>
              <a:rPr lang="en-US" sz="1200" baseline="-400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</a:t>
            </a:r>
            <a:r>
              <a:rPr lang="en-US" sz="1200" baseline="-400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提纯）。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43584"/>
          <a:ext cx="11274552" cy="219456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  <a:gridCol w="587959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曲线形态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代表物质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对应方法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陡升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KNO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、尿素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降温结晶（冷却热饱和溶液）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缓升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NaCl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蒸发结晶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下降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Ca(OH)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、Li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、SrCl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升温析出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60273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3712464"/>
            <a:ext cx="11274552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选方法的依据是「溶解度受温度影响的大小」，不是溶解度本身的大小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4206240"/>
            <a:ext cx="5509260" cy="1865376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7200" y="4206240"/>
            <a:ext cx="50292" cy="1865376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31520" y="4315968"/>
            <a:ext cx="49606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提纯 KNO</a:t>
            </a:r>
            <a:r>
              <a:rPr lang="en-US" sz="1200" b="1" baseline="-40000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（含少量 NaCl）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4663440"/>
            <a:ext cx="4960620" cy="618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配成高温饱和溶液 → 降温 → KNO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大量析出，NaCl 留在母液</a:t>
            </a:r>
            <a:endParaRPr lang="en-US" sz="13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过滤、洗涤、干燥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22492" y="4206240"/>
            <a:ext cx="5509260" cy="1865376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22492" y="4206240"/>
            <a:ext cx="50292" cy="1865376"/>
          </a:xfrm>
          <a:prstGeom prst="rect">
            <a:avLst/>
          </a:prstGeom>
          <a:solidFill>
            <a:srgbClr val="3E7A57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96812" y="4315968"/>
            <a:ext cx="49606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提纯 NaCl（含少量 KNO</a:t>
            </a:r>
            <a:r>
              <a:rPr lang="en-US" sz="1200" b="1" baseline="-40000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）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96812" y="4663440"/>
            <a:ext cx="4960620" cy="618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蒸发结晶 → NaCl 先析出 → KNO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因量少且溶解度大，留在</a:t>
            </a:r>
            <a:endParaRPr lang="en-US" sz="13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母液，最后趁热过滤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概念题错在漏条件，逐条比对就能全对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来源：2024 年上海中考第 5 题；2025 年上海中考第 1、3 题。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25296"/>
            <a:ext cx="5509260" cy="230428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1225296"/>
            <a:ext cx="50292" cy="2304288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1335024"/>
            <a:ext cx="49606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2024 第 5 题　有晶体析出的是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1700784"/>
            <a:ext cx="4960620" cy="677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A．打磨镁条　　B．弯折铁丝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C．海水晒盐　　D．粉碎矿石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395728"/>
            <a:ext cx="496062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 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4960620" cy="569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海水晒盐是蒸发结晶；打磨、弯折、粉碎只是形状变化，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没有晶体从溶液里析出。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22492" y="1225296"/>
            <a:ext cx="5509260" cy="230428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22492" y="1225296"/>
            <a:ext cx="50292" cy="2304288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6812" y="1335024"/>
            <a:ext cx="49606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2025 第 1、3 题　属于溶液的是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6812" y="1700784"/>
            <a:ext cx="4960620" cy="33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蒸馏水　／　矿泉水　／　豆浆　／　牛奶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6812" y="2395728"/>
            <a:ext cx="496062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答案：矿泉水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6812" y="2743200"/>
            <a:ext cx="4960620" cy="569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矿泉水是均一、稳定的混合物；蒸馏水是纯净物；豆浆、牛奶是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浊液，会分层，不均一。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858768"/>
            <a:ext cx="11274552" cy="307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这类题的三条判据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4261104"/>
            <a:ext cx="3587496" cy="182880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4944" y="4352544"/>
            <a:ext cx="313029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溶液是混合物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" y="4700016"/>
            <a:ext cx="3130296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均一、稳定、由溶质和溶剂组成。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蒸馏水只有一种物质，不是溶液。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00728" y="4261104"/>
            <a:ext cx="3587496" cy="182880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38472" y="4352544"/>
            <a:ext cx="313029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浊液不是溶液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38472" y="4700016"/>
            <a:ext cx="3130296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豆浆、牛奶、泥水都不均一，放久了会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分层或沉降。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44256" y="4261104"/>
            <a:ext cx="3587496" cy="182880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382000" y="4352544"/>
            <a:ext cx="313029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结晶不是形变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2000" y="4700016"/>
            <a:ext cx="3130296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晶体从溶液里析出才是结晶。打磨、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弯折、粉碎只是形体改变。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看不见固体，也可能是饱和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年上海市浦东新区中考一模 · 化学 · 第 39 题④。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25296"/>
            <a:ext cx="5509260" cy="1810512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1225296"/>
            <a:ext cx="50292" cy="1810512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1335024"/>
            <a:ext cx="4960620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看得到固体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4960620" cy="631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杯底还有没溶完的固体，上层清液一定是该溶质的饱和溶液。</a:t>
            </a: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判断成立，不用再验证。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2492" y="1225296"/>
            <a:ext cx="5509260" cy="1810512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22492" y="1225296"/>
            <a:ext cx="50292" cy="1810512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6812" y="1335024"/>
            <a:ext cx="4960620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441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看不到固体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6812" y="1719072"/>
            <a:ext cx="4960620" cy="631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可能恰好饱和，也可能不饱和——光看是看不出来的，判据</a:t>
            </a:r>
            <a:endParaRPr lang="en-US" sz="14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不足，必须动手验证。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383280"/>
            <a:ext cx="11274552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真题问法：若要确定滤液是否为硝酸钾的饱和溶液，可进行的实验是＿＿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11274552" cy="219456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9808" y="4005072"/>
            <a:ext cx="1068933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标准答法（三步，缺一不可）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4407408"/>
            <a:ext cx="10689336" cy="1056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4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取少量滤液于试管中——取样，不是把整杯都拿去做实验。</a:t>
            </a:r>
            <a:endParaRPr lang="en-US" sz="14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4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加入少量硝酸钾固体，充分搅拌——加的是同一种溶质。</a:t>
            </a:r>
            <a:endParaRPr lang="en-US" sz="14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4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若固体不再溶解，则为饱和溶液；若继续溶解，则为不饱和溶液。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题型全谱｜曲线读图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读点取值，先看坐标轴的刻度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年上海市浦东新区中考一模 · 化学 · 第 39 题①（答案 36.0）。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9720072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浦东一模第 39 题①　t₁℃ 时，NaCl 的溶解度为 ＿＿ g / 100 g 水。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0152" y="1078992"/>
            <a:ext cx="1371600" cy="444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4224528"/>
            <a:ext cx="3587496" cy="109728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4944" y="4315968"/>
            <a:ext cx="313029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① 先找温度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" y="4663440"/>
            <a:ext cx="3130296" cy="30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在横轴找到 t₁，也就是 20℃。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00728" y="4224528"/>
            <a:ext cx="3587496" cy="109728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38472" y="4315968"/>
            <a:ext cx="313029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② 竖直向上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8472" y="4663440"/>
            <a:ext cx="3130296" cy="30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沿 t₁ 竖直向上，交到那条曲线上。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44256" y="4224528"/>
            <a:ext cx="3587496" cy="109728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82000" y="4315968"/>
            <a:ext cx="313029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③ 水平向左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4663440"/>
            <a:ext cx="3130296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从交点水平向左，读纵轴刻度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 36.0。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449824"/>
            <a:ext cx="11274552" cy="73152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5449824"/>
            <a:ext cx="50292" cy="731520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5577840"/>
            <a:ext cx="10725912" cy="23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常见错读：不看刻度凭印象写 36；或把 KNO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曲线的值读成 NaCl 的。</a:t>
            </a:r>
            <a:endParaRPr lang="en-US" sz="1350" dirty="0"/>
          </a:p>
        </p:txBody>
      </p:sp>
      <p:pic>
        <p:nvPicPr>
          <p:cNvPr id="23" name="figure:figR1" descr="chart_nacl_readpoint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1056"/>
            <a:ext cx="112745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题型全谱｜曲线读图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比较溶解度，先问温度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年上海市奉贤区中考一模 · 化学 · 第 17 题（不定项，A 项）。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43584"/>
            <a:ext cx="5532120" cy="155448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243584"/>
            <a:ext cx="50292" cy="1554480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1335024"/>
            <a:ext cx="505663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题干 A 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1682496"/>
            <a:ext cx="5056632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「甲物质的溶解度大于乙物质的溶解度」——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错，因为没指明温度。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553212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017520"/>
            <a:ext cx="55321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不指明温度，大小关系可以反过来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38144"/>
          <a:ext cx="5532120" cy="182880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温度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KNO</a:t>
                      </a:r>
                      <a:r>
                        <a:rPr lang="en-US" sz="1200" b="1" baseline="-40000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NaCl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0℃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13.3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35.7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20℃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31.6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36.0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60℃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110.0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37.3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5431536"/>
            <a:ext cx="553212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低温下 KNO</a:t>
            </a:r>
            <a:r>
              <a:rPr lang="en-US" sz="1200" baseline="-4000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0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反而比 NaCl 小，60℃ 才反超。</a:t>
            </a:r>
            <a:endParaRPr lang="en-US" sz="1300" dirty="0"/>
          </a:p>
        </p:txBody>
      </p:sp>
      <p:pic>
        <p:nvPicPr>
          <p:cNvPr id="17" name="figure:figA3" descr="chart_kno3_nacl_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80160"/>
            <a:ext cx="5486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题型全谱｜动态判断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降温不一定到饱和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年上海中考化学 · 原卷第 37 题（C 项）。参考答案为公开页整理，非官方标准答案。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1243584"/>
            <a:ext cx="5440680" cy="164592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91072" y="1243584"/>
            <a:ext cx="50292" cy="1645920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47104" y="1335024"/>
            <a:ext cx="496519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题干 C 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47104" y="1682496"/>
            <a:ext cx="4965192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「把 KNO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不饱和溶液降温到 t₁℃，一定能得到 KNO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的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饱和溶液」——错。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91072" y="2999232"/>
            <a:ext cx="544068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91072" y="3108960"/>
            <a:ext cx="544068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判断能不能到饱和，要比两个数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91072" y="3493008"/>
            <a:ext cx="5440680" cy="618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原来溶了多少（原溶质质量分数）</a:t>
            </a:r>
            <a:endParaRPr lang="en-US" sz="13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降温后最多能溶多少（该温度下的溶解度）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91072" y="4133088"/>
            <a:ext cx="5440680" cy="30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＜ ②，降温后仍不饱和。原本很稀的溶液，怎么降温都不会饱和。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91072" y="5120640"/>
            <a:ext cx="5440680" cy="96926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47104" y="5248656"/>
            <a:ext cx="4965192" cy="284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「降温 → 析出」不是绝对规律，要看原溶液浓不浓。</a:t>
            </a:r>
            <a:endParaRPr lang="en-US" sz="1300" dirty="0"/>
          </a:p>
        </p:txBody>
      </p:sp>
      <p:pic>
        <p:nvPicPr>
          <p:cNvPr id="19" name="figure:figA4" descr="chart_kno3_c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5778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题型全谱｜动态判断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沿线走一步，再判状态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年上海中考化学 · 原卷第 37 题（D 项，正确）。参考答案为公开页整理。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43584"/>
            <a:ext cx="5532120" cy="157276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243584"/>
            <a:ext cx="50292" cy="1572768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1335024"/>
            <a:ext cx="505663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题干 D 项（正确项）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1682496"/>
            <a:ext cx="5056632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「t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℃ 的 NaCl 溶液升温到 t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℃，溶液仍为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不饱和溶液」——对。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53212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035808"/>
            <a:ext cx="55321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沿线走这三步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419856"/>
            <a:ext cx="5532120" cy="9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定起点：原溶液在曲线下方，是不饱和的；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升温，沿水平方向向右移，温度变大；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曲线随温度升高而抬高，起点离曲线更远 —— 仍不饱和。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864608"/>
            <a:ext cx="5532120" cy="133502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4864608"/>
            <a:ext cx="50292" cy="1335024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232" y="4974336"/>
            <a:ext cx="5056632" cy="89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关键分清两种移动：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升温、降温 → 左右平移；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加溶质、蒸发水 → 上下平移。</a:t>
            </a:r>
            <a:endParaRPr lang="en-US" sz="1300" dirty="0"/>
          </a:p>
        </p:txBody>
      </p:sp>
      <p:pic>
        <p:nvPicPr>
          <p:cNvPr id="19" name="figure:figW2" descr="chart_nacl_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80160"/>
            <a:ext cx="54864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题型全谱｜计算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分母是溶液，不是溶剂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年上海市松江区中考一模 · 化学 · 第 17 题（D 项）；公式由溶解度定义推出。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5509260" cy="175564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298448"/>
            <a:ext cx="49606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饱和溶液的质量分数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2492" y="1207008"/>
            <a:ext cx="5509260" cy="175564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6812" y="1298448"/>
            <a:ext cx="49606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由质量分数反推溶解度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291840"/>
            <a:ext cx="11274552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代进去算一遍：20℃ 时 NaCl 溶解度 36 g / 100 g 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439912" cy="47548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3749040"/>
            <a:ext cx="6071347" cy="475488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38275" y="3840480"/>
            <a:ext cx="182880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 100 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24889" y="3749040"/>
            <a:ext cx="2185685" cy="475488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23960" y="3840480"/>
            <a:ext cx="2011680" cy="222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44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溶质 36 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407408"/>
            <a:ext cx="11274552" cy="265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w ＝ 36 ÷ 136 × 100% ≈ 26.5%　—— 这就是 NaCl 饱和溶液的上限，36% 永远配不出来。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57200" y="4974336"/>
            <a:ext cx="11274552" cy="111556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4974336"/>
            <a:ext cx="50292" cy="1115568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5084064"/>
            <a:ext cx="10725912" cy="32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陷阱：把「100 g 水溶 36 g」读成「100 g 溶液含 36 g」，于是把 36 直接当成 36%，两个数的分母差了一个溶质。</a:t>
            </a:r>
            <a:endParaRPr lang="en-US" sz="1400" dirty="0"/>
          </a:p>
        </p:txBody>
      </p:sp>
      <p:pic>
        <p:nvPicPr>
          <p:cNvPr id="25" name="formula:w=\frac{S}{100+S}\times " descr="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1985010"/>
            <a:ext cx="2423160" cy="419100"/>
          </a:xfrm>
          <a:prstGeom prst="rect">
            <a:avLst/>
          </a:prstGeom>
        </p:spPr>
      </p:pic>
      <p:pic>
        <p:nvPicPr>
          <p:cNvPr id="26" name="formula:S=\frac{100w}{1-w}" descr="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718" y="2001012"/>
            <a:ext cx="1130808" cy="3870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题型全谱｜计算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稀释抓溶质守恒，混合抓总量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来源：2024 年上海中考化学 · 原卷第 17 题（不定项，参考答案 CD）。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74552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2024 第 17 题　甲、乙、丙分别是质量分数为 2%、4%、6% 的 NaOH 溶液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5509260" cy="197510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664208"/>
            <a:ext cx="50292" cy="1975104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1773936"/>
            <a:ext cx="496062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 项（正确）　100 g 丙与 200 g 水混合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139696"/>
            <a:ext cx="4960620" cy="100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稀释前后溶质质量不变：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× 6% ＝ (100 ＋ 200) × w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解得 w ＝ 6 ÷ 300 ＝ 2%。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22492" y="1664208"/>
            <a:ext cx="5509260" cy="197510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22492" y="1664208"/>
            <a:ext cx="50292" cy="1975104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6812" y="1773936"/>
            <a:ext cx="496062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D 项（正确）　相同质量的甲、乙、丙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6812" y="2139696"/>
            <a:ext cx="4960620" cy="100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溶液质量相同时，质量分数越小，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里面的水就越多。甲只有 2%，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所以甲这份里的水最多。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3913632"/>
            <a:ext cx="11274552" cy="29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另外两项错在哪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200" y="4315968"/>
            <a:ext cx="11274552" cy="175564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4315968"/>
            <a:ext cx="50292" cy="1755648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4425696"/>
            <a:ext cx="10725912" cy="23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错：题目只给了质量分数，没给温度，也没给 NaOH 的溶解度 —— 判不了饱和。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809744"/>
            <a:ext cx="10725912" cy="311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错：两溶液的质量没给，溶质多少无法比较；而且 2% 与 4% 混合，结果只会落在 2%~4% 之间，不可能是 6%。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449824"/>
            <a:ext cx="10725912" cy="23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混合后质量分数一定介于两者之间 —— 这一条能直接排除所有「越混越浓」的选项。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题型全谱｜气体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气体随温度降、随压强升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年上海中考化学 · 原卷第 36 题（参考答案 BC）。参考答案为公开页整理。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74552" cy="28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2025 第 36 题　能体现气体溶解度受温度或压强影响的是</a:t>
            </a:r>
            <a:endParaRPr lang="en-US" sz="16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11274552" cy="3017520"/>
        </p:xfrm>
        <a:graphic>
          <a:graphicData uri="http://schemas.openxmlformats.org/drawingml/2006/table">
            <a:tbl>
              <a:tblPr/>
              <a:tblGrid>
                <a:gridCol w="822960"/>
                <a:gridCol w="3931920"/>
                <a:gridCol w="868680"/>
                <a:gridCol w="565099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选项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事例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判断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理由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打开氮气钢瓶阀门，有气体逸出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错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钢瓶里是液氮，逸出是压强减小、分子间隙增大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打开汽水瓶盖，有大量气体逸出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压强减小 → 气体溶解度减小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水沸腾前，有小气泡冒出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温度升高 → 气体溶解度减小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瘪的乒乓球放入热水能复原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错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这是气体受热膨胀，与溶解度无关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230368"/>
            <a:ext cx="5509260" cy="96926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5230368"/>
            <a:ext cx="50292" cy="969264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31520" y="4809744"/>
            <a:ext cx="49606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固体（多数）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5157216"/>
            <a:ext cx="4960620" cy="29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温度升高 → 溶解度增大。压强基本不影响固体溶解度。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22492" y="5230368"/>
            <a:ext cx="5509260" cy="96926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222492" y="5230368"/>
            <a:ext cx="50292" cy="969264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96812" y="4809744"/>
            <a:ext cx="496062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41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气体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6812" y="5157216"/>
            <a:ext cx="4960620" cy="59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温度升高 → 溶解度减小；压强增大 → 溶解度增大。与固体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正好相反，且必须真的有水做溶剂。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题型全谱｜表格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读表要按比例换算，不能照搬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来源：2022 年上海中考化学 · 原卷第 20 题(2)。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74552" cy="28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2022 第 20 题(2)　20℃ 时，10 g 水中最多溶解 K</a:t>
            </a:r>
            <a:r>
              <a:rPr lang="en-US" sz="1200" b="1" baseline="-40000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SO</a:t>
            </a:r>
            <a:r>
              <a:rPr lang="en-US" sz="1200" b="1" baseline="-40000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4</a:t>
            </a: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＿＿ g</a:t>
            </a:r>
            <a:endParaRPr lang="en-US" sz="16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509260" cy="1536192"/>
        </p:xfrm>
        <a:graphic>
          <a:graphicData uri="http://schemas.openxmlformats.org/drawingml/2006/table">
            <a:tbl>
              <a:tblPr/>
              <a:tblGrid>
                <a:gridCol w="1234440"/>
                <a:gridCol w="786384"/>
                <a:gridCol w="786384"/>
                <a:gridCol w="786384"/>
                <a:gridCol w="786384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温度(℃)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NaCl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35.7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36.0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37.1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39.2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7.4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11.1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18.2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24.1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255264"/>
            <a:ext cx="5509260" cy="21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单位：g / 100 g 水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22492" y="1645920"/>
            <a:ext cx="5509260" cy="197510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22492" y="1645920"/>
            <a:ext cx="50292" cy="1975104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496812" y="1755648"/>
            <a:ext cx="496062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换算：溶解度是「每 100 g 水」的基准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96812" y="2121408"/>
            <a:ext cx="4960620" cy="100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g 水　溶解 11.1 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g 水　溶解 11.1 × 10 ÷ 100 ＝ 1.11 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所以答案是 1.11 g。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80390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57200" y="3950208"/>
            <a:ext cx="11274552" cy="2139696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57200" y="3950208"/>
            <a:ext cx="50292" cy="2139696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31520" y="4059936"/>
            <a:ext cx="10725912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三种读表题的走法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" y="4462272"/>
            <a:ext cx="10725912" cy="1019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直接读：问「某温度下的溶解度」，横着找温度、读数值 —— 如 100℃ 时 NaCl 为 39.2 g。</a:t>
            </a:r>
            <a:endParaRPr lang="en-US" sz="14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按比例换算：水量不是 100 g 时，一律乘「水量 ÷ 100」。这是最常设的坑。</a:t>
            </a:r>
            <a:endParaRPr lang="en-US" sz="14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反着算：给溶质质量求需要多少水，就把上面的比例式倒过来解。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题型全谱｜作图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作图的第一关，是取舍数据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来源：2023 年上海中考化学 · 原卷第 19 题(2)。参考答案：50℃ 时约 11.3 g / 100 g 水。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91072" y="1225296"/>
            <a:ext cx="5440680" cy="28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2023 第 19 题　硼酸七烧杯实验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291072" y="1609344"/>
            <a:ext cx="5440680" cy="60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七个烧杯各加 25.0 g 硼酸、各加 100 g 水，测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不同温度下溶解的量。</a:t>
            </a:r>
            <a:endParaRPr lang="en-US" sz="13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2194560"/>
          <a:ext cx="54406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58368"/>
                <a:gridCol w="658368"/>
                <a:gridCol w="658368"/>
                <a:gridCol w="658368"/>
                <a:gridCol w="65836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温度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溶解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5.0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8.7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14.8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23.6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25.0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291072" y="3182112"/>
            <a:ext cx="5440680" cy="205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单位：g / 100 g 水（部分温度）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91072" y="3529584"/>
            <a:ext cx="5440680" cy="2231136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91072" y="3529584"/>
            <a:ext cx="50292" cy="2231136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547104" y="3639312"/>
            <a:ext cx="496519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为什么只能取 20~80℃ 作图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47104" y="4005072"/>
            <a:ext cx="4965192" cy="1191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90℃、100℃ 两杯里 25.0 g 恰好全部溶完，没有剩余固体，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就无法判断是否饱和。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不饱和的点测到的是「加进去的量」，不是溶解度 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 不能拿去作图。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47104" y="5303520"/>
            <a:ext cx="4965192" cy="23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50℃ 处曲线：约 11.3 g / 100 g 水。</a:t>
            </a:r>
            <a:endParaRPr lang="en-US" sz="1350" dirty="0"/>
          </a:p>
        </p:txBody>
      </p:sp>
      <p:pic>
        <p:nvPicPr>
          <p:cNvPr id="23" name="figure:figC1" descr="chart_bo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584"/>
            <a:ext cx="5577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题型全谱｜配制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配制溶液，先判断能不能溶完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来源：2023 年上海中考化学 · 原卷第 19 题(3)。参考答案：量取 85 mL 水，加热至完全溶解。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74552" cy="28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2023 第 19 题(3)　配 15% 硼酸溶液 100 g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587496" cy="292608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645920"/>
            <a:ext cx="50292" cy="2926080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1773936"/>
            <a:ext cx="3112008" cy="28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① 先算用量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194560"/>
            <a:ext cx="3112008" cy="134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溶质 ＝ 100 × 15% ＝ 15 g</a:t>
            </a:r>
            <a:endParaRPr lang="en-US" sz="135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溶剂 ＝ 100 − 15 ＝ 85 g</a:t>
            </a:r>
            <a:endParaRPr lang="en-US" sz="135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水的密度约 1 g/mL</a:t>
            </a:r>
            <a:endParaRPr lang="en-US" sz="135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所以量取 85 mL 水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00728" y="1645920"/>
            <a:ext cx="3587496" cy="292608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00728" y="1645920"/>
            <a:ext cx="50292" cy="2926080"/>
          </a:xfrm>
          <a:prstGeom prst="rect">
            <a:avLst/>
          </a:prstGeom>
          <a:solidFill>
            <a:srgbClr val="3E7A57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56760" y="1773936"/>
            <a:ext cx="3112008" cy="28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② 再验能不能溶完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56760" y="2194560"/>
            <a:ext cx="3112008" cy="134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20℃ 硼酸溶解度仅 5.0 g</a:t>
            </a:r>
            <a:endParaRPr lang="en-US" sz="135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 g 冷水最多溶约 4.25 g</a:t>
            </a:r>
            <a:endParaRPr lang="en-US" sz="135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而你要溶 15 g —— 溶不完。</a:t>
            </a:r>
            <a:endParaRPr lang="en-US" sz="135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这一步是本题的命门。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44256" y="1645920"/>
            <a:ext cx="3587496" cy="292608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144256" y="1645920"/>
            <a:ext cx="50292" cy="2926080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400288" y="1773936"/>
            <a:ext cx="3112008" cy="28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③ 补上加热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00288" y="2194560"/>
            <a:ext cx="3112008" cy="134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称取 15 g 硼酸固体于烧杯中，</a:t>
            </a:r>
            <a:endParaRPr lang="en-US" sz="135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量取 85 mL 水加入，</a:t>
            </a:r>
            <a:endParaRPr lang="en-US" sz="135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加热并搅拌至完全溶解。</a:t>
            </a:r>
            <a:endParaRPr lang="en-US" sz="135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80℃ 时 85 g 水可溶约 20 g。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1274552" cy="1353312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4754880"/>
            <a:ext cx="50292" cy="1353312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4864608"/>
            <a:ext cx="10725912" cy="265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441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陷阱：把「配制溶液」当成纯算术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31520" y="5230368"/>
            <a:ext cx="10725912" cy="641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只算「要 15 g 固体、85 g 水」就交卷，忽略了溶解度上限这一层。正确的方案必须先确认：</a:t>
            </a:r>
            <a:endParaRPr lang="en-US" sz="14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4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这些溶质在这些水、这个温度下溶不溶得完。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 · 题型全谱｜作图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降温析出是上升后走平，不是斜线下降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来源：2025 年上海市浦东新区中考一模 · 化学 · 第 39 题③。曲线形状据参考答案描述绘制。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5440680" cy="28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浦东一模第 39 题③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5440680" cy="627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℃ 时把 80 g KNO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加入 100 g 水中，充分溶解后降温至 t₁℃，</a:t>
            </a:r>
            <a:endParaRPr lang="en-US" sz="135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画出溶液中析出固体的质量随时间的变化曲线。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544068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3328416"/>
            <a:ext cx="5440680" cy="265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正确形状：从 0 快速上升，然后趋于水平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5440680" cy="30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析出需要时间：先逐渐增多，达到平衡后质量不再增加。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370832"/>
            <a:ext cx="5440680" cy="1682496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4370832"/>
            <a:ext cx="50292" cy="1682496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3232" y="4480560"/>
            <a:ext cx="496519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41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陷阱：画成斜线下降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4828032"/>
            <a:ext cx="4965192" cy="57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横轴是「时间」，不是「温度」—— 别把纵轴变量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当成温度的函数来画。</a:t>
            </a:r>
            <a:endParaRPr lang="en-US" sz="1300" dirty="0"/>
          </a:p>
        </p:txBody>
      </p:sp>
      <p:pic>
        <p:nvPicPr>
          <p:cNvPr id="18" name="figure:figP1" descr="chart_prec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261872"/>
            <a:ext cx="55778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 · 压轴与收束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上海卷最爱反着考：升温反而析出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来源：2024 年上海中考化学 · 原卷第 39 题（碳酸锂提纯）。参考答案为 21cnjy／学科网／人人文库公开页整理。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5897880" cy="28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真题 · 2024 第 39 题　碳酸锂（Li</a:t>
            </a:r>
            <a:r>
              <a:rPr lang="en-US" sz="1200" b="1" baseline="-40000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CO</a:t>
            </a:r>
            <a:r>
              <a:rPr lang="en-US" sz="1200" b="1" baseline="-40000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r>
              <a:rPr lang="en-US" sz="165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）提纯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5897880" cy="618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粗制品的主要杂质是氯化钠。Li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的溶解度随温度升高而减小 </a:t>
            </a:r>
            <a:endParaRPr lang="en-US" sz="13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 这就是全题的钥匙。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5897880" cy="170078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432304"/>
            <a:ext cx="50292" cy="1700784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2542032"/>
            <a:ext cx="542239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(3)① 步骤Ⅱ、Ⅲ需要加热的原因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2889504"/>
            <a:ext cx="5422392" cy="57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 Li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的溶解度，使它结晶析出；同时 NaCl 升温溶解度略增，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留在溶液中不析出，从而实现分离。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79392"/>
            <a:ext cx="5897880" cy="1773936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4279392"/>
            <a:ext cx="50292" cy="1773936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" y="4389120"/>
            <a:ext cx="542239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(3)② 室温下，滤液 X 是 Li</a:t>
            </a:r>
            <a:r>
              <a:rPr lang="en-US" sz="1200" b="1" baseline="-40000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CO</a:t>
            </a:r>
            <a:r>
              <a:rPr lang="en-US" sz="1200" b="1" baseline="-40000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的＿＿溶液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" y="4736592"/>
            <a:ext cx="5422392" cy="1191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答案：饱和。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已经从这个溶液里析出过 Li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固体，剩下的母液在室温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下不能再溶 Li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了。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陷阱：学生看「水多」就答不饱和。</a:t>
            </a:r>
            <a:endParaRPr lang="en-US" sz="1300" dirty="0"/>
          </a:p>
        </p:txBody>
      </p:sp>
      <p:pic>
        <p:nvPicPr>
          <p:cNvPr id="19" name="figure:figB2" descr="chart_li2co3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261872"/>
            <a:ext cx="51206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 · 压轴与收束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提纯提谁，谁析出——工业流程三连问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来源：2024 年上海中考第 39 题(4)；2025 年上海市徐汇区中考二模第 40 题；2022 年上海中考第 20 题。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3840480"/>
        </p:xfrm>
        <a:graphic>
          <a:graphicData uri="http://schemas.openxmlformats.org/drawingml/2006/table">
            <a:tbl>
              <a:tblPr/>
              <a:tblGrid>
                <a:gridCol w="3200400"/>
                <a:gridCol w="2148840"/>
                <a:gridCol w="5925312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问法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出处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答题要点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蒸发浓缩、趁热过滤的目的是什么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 第 39 题(4)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提高 Li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产量（滤液中还有溶解的 Li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</a:t>
                      </a:r>
                      <a:r>
                        <a:rPr lang="en-US" sz="1200" baseline="-4000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）；趁热过滤可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防止降温后它重新溶解。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上面这个做法的一条缺点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 第 39 题(4)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蒸发到一定程度，NaCl 也会达到饱和一起析出，导致产品不纯。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用饱和 LiOH 溶液洗涤固体的优点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 徐汇二模第 40 题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既洗去表面附着的可溶杂质 LiCl，又不会溶解目标产物 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232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LiOH——用纯水会把产品洗掉。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230368"/>
            <a:ext cx="5509260" cy="96926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5230368"/>
            <a:ext cx="50292" cy="969264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31520" y="5321808"/>
            <a:ext cx="496062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滤液 B 是否饱和？（2022 第 20 题）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5614416"/>
            <a:ext cx="4960620" cy="569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达到饱和。理由同 2024 第 39 题：析出晶体后的滤液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必为该溶质的饱和溶液。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22492" y="5230368"/>
            <a:ext cx="5509260" cy="969264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22492" y="5230368"/>
            <a:ext cx="50292" cy="969264"/>
          </a:xfrm>
          <a:prstGeom prst="rect">
            <a:avLst/>
          </a:prstGeom>
          <a:solidFill>
            <a:srgbClr val="14532D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96812" y="5321808"/>
            <a:ext cx="496062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一句话记住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6812" y="5614416"/>
            <a:ext cx="4960620" cy="284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析出晶体后的滤液 ＝ 该溶质的饱和溶液，年年考。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 · 压轴与收束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考场四步，让这一块归零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254496"/>
            <a:ext cx="11274552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6309360"/>
            <a:ext cx="9902952" cy="2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来源：本讲义全部真题的综合归纳。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43032" y="6309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8" name="iconCheck"/>
          <p:cNvSpPr/>
          <p:nvPr/>
        </p:nvSpPr>
        <p:spPr>
          <a:xfrm>
            <a:off x="457200" y="1225296"/>
            <a:ext cx="640080" cy="640080"/>
          </a:xfrm>
          <a:prstGeom prst="rect">
            <a:avLst/>
          </a:prstGeom>
          <a:solidFill>
            <a:srgbClr val="FBFAF7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61872" y="1261872"/>
            <a:ext cx="10469880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动笔之前，先过这四步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5509260" cy="1719072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121408"/>
            <a:ext cx="548640" cy="37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98448" y="2157984"/>
            <a:ext cx="4393692" cy="324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先判状态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2633472"/>
            <a:ext cx="496062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2743200"/>
            <a:ext cx="4960620" cy="60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这杯溶液是饱和，还是不饱和？有未溶固体、或加同种溶质</a:t>
            </a: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不再溶解，就是饱和。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22492" y="1975104"/>
            <a:ext cx="5509260" cy="1719072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6812" y="2121408"/>
            <a:ext cx="548640" cy="37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63740" y="2157984"/>
            <a:ext cx="4393692" cy="324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再问温度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96812" y="2633472"/>
            <a:ext cx="496062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96812" y="2743200"/>
            <a:ext cx="4960620" cy="60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要比较溶解度，先看题目有没有指明温度。没指明，大小</a:t>
            </a: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关系就不能下结论。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5509260" cy="1719072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4005072"/>
            <a:ext cx="548640" cy="37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98448" y="4041648"/>
            <a:ext cx="4393692" cy="324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看方向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31520" y="4517136"/>
            <a:ext cx="496062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4626864"/>
            <a:ext cx="4960620" cy="60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这物质升温是溶解度变大还是变小？是不是 Ca(OH)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</a:t>
            </a:r>
            <a:r>
              <a:rPr lang="en-US" sz="1200" baseline="-4000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这类反常型？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22492" y="3858768"/>
            <a:ext cx="5509260" cy="1719072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96812" y="4005072"/>
            <a:ext cx="548640" cy="37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63740" y="4041648"/>
            <a:ext cx="4393692" cy="324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2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最后代数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496812" y="4517136"/>
            <a:ext cx="4960620" cy="10058"/>
          </a:xfrm>
          <a:prstGeom prst="rect">
            <a:avLst/>
          </a:prstGeom>
          <a:solidFill>
            <a:srgbClr val="D3DBD6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96812" y="4626864"/>
            <a:ext cx="4960620" cy="609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饱和溶液走 w ＝ S ÷ (100＋S)；不饱和走 w ＝ 溶质 ÷ 溶液。</a:t>
            </a:r>
            <a:endParaRPr lang="en-US" sz="13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A23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入口选对，数就不会错。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57200" y="5742432"/>
            <a:ext cx="11274552" cy="475488"/>
          </a:xfrm>
          <a:prstGeom prst="rect">
            <a:avLst/>
          </a:prstGeom>
          <a:solidFill>
            <a:srgbClr val="EEF2E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5742432"/>
            <a:ext cx="50292" cy="475488"/>
          </a:xfrm>
          <a:prstGeom prst="rect">
            <a:avLst/>
          </a:prstGeom>
          <a:solidFill>
            <a:srgbClr val="B4441F"/>
          </a:solidFill>
          <a:ln w="12700">
            <a:solidFill>
              <a:srgbClr val="D3DBD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5815584"/>
            <a:ext cx="10725912" cy="265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441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这四步做完再动笔 —— 这一块就没有扣分点。</a:t>
            </a:r>
            <a:endParaRPr lang="en-US" sz="1550" dirty="0"/>
          </a:p>
        </p:txBody>
      </p:sp>
      <p:pic>
        <p:nvPicPr>
          <p:cNvPr id="33" name="icon:清单" descr="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80160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上海中考化学 · 溶解度专题</dc:title>
  <dc:subject>PptxGenJS Presentation</dc:subject>
  <dc:creator>溶解度专题讲义</dc:creator>
  <cp:lastModifiedBy>溶解度专题讲义</cp:lastModifiedBy>
  <cp:revision>1</cp:revision>
  <dcterms:created xsi:type="dcterms:W3CDTF">2026-09-12T03:20:11Z</dcterms:created>
  <dcterms:modified xsi:type="dcterms:W3CDTF">2026-09-12T03:20:11Z</dcterms:modified>
</cp:coreProperties>
</file>